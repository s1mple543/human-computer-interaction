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Bahnschrift SemiBold"/>
                <a:ea typeface="Noto Sans SC Medium"/>
              </a:rPr>
              <a:t>技能五子棋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423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E5FF"/>
                </a:solidFill>
                <a:latin typeface="Bahnschrift SemiBold"/>
                <a:ea typeface="Noto Sans SC Medium"/>
              </a:rPr>
              <a:t>2.0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401568"/>
            <a:ext cx="685800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3456432"/>
            <a:ext cx="6858000" cy="7315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8BB8"/>
                </a:solidFill>
                <a:latin typeface="OCR A Extended"/>
                <a:ea typeface="Noto Sans SC"/>
              </a:rPr>
              <a:t>SKILL GOMOKU 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605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D"/>
                </a:solidFill>
                <a:latin typeface="Bahnschrift Light"/>
                <a:ea typeface="Noto Sans SC"/>
              </a:rPr>
              <a:t>HTML5 Canvas  +  Node.js  +  豆包大模型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994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D"/>
                </a:solidFill>
                <a:latin typeface="Bahnschrift Light"/>
                <a:ea typeface="Noto Sans SC"/>
              </a:rPr>
              <a:t>12种技能系统  ·  双人对战 / AI对战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03834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BBD"/>
                </a:solidFill>
                <a:latin typeface="Bahnschrift Light"/>
                <a:ea typeface="Noto Sans SC"/>
              </a:rPr>
              <a:t>人机交互课程  ·  终期项目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914400"/>
            <a:ext cx="3474720" cy="1968947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656832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46304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12801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hnschrift SemiBold"/>
                <a:ea typeface="Noto Sans SC Medium"/>
              </a:rPr>
              <a:t>项目背景与核心问题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7665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BB8"/>
                </a:solidFill>
                <a:latin typeface="OCR A Extended"/>
                <a:ea typeface="Noto Sans SC"/>
              </a:rPr>
              <a:t>BACKGROUND &amp; DESIGN GOALS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932688"/>
            <a:ext cx="3200400" cy="1645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47872" y="932688"/>
            <a:ext cx="8257032" cy="16459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" y="1097280"/>
            <a:ext cx="5394960" cy="256032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1097280"/>
            <a:ext cx="539496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11430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PROBLEM SPACE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4173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经典五子棋的局限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1874519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规则固定，重复可玩性低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单局体验同质化，策略空间有限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缺乏玩家间差异化博弈手段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3822191"/>
            <a:ext cx="5394960" cy="256032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47472" y="3822191"/>
            <a:ext cx="539496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3867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DESIGN GOALS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1422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设计目标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599432"/>
            <a:ext cx="5120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12种策略技能 — 扩展博弈深度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多元胜利条件（星位胜 / 满盘白胜）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豆包大模型驱动 AI 对手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遵循 HCI 理论确保可用性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1097280"/>
            <a:ext cx="5897880" cy="256032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943600" y="1097280"/>
            <a:ext cx="589788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60" y="11430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USER PERSONA 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14173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用户画像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19019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00"/>
                </a:solidFill>
                <a:latin typeface="Bahnschrift Light"/>
                <a:ea typeface="Noto Sans SC"/>
              </a:rPr>
              <a:t>策略玩家 Expert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22128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有五子棋经验 · 追求博弈深度
需要快速了解技能效果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28163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  <a:latin typeface="Bahnschrift Light"/>
                <a:ea typeface="Noto Sans SC"/>
              </a:rPr>
              <a:t>休闲玩家 Novice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3127248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棋类新手 · 需要清晰引导
随时查阅规则 · 错误有反馈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822191"/>
            <a:ext cx="5897880" cy="256032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943600" y="3822191"/>
            <a:ext cx="589788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80760" y="38679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TECH STACK 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80760" y="41422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技术栈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4599432"/>
            <a:ext cx="5577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前端：HTML5 Canvas + 原生 JavaScript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后端：Node.js + Express（API 代理层）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AI：火山引擎豆包大模型（OpenAI 兼容接口）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46304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12801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hnschrift SemiBold"/>
                <a:ea typeface="Noto Sans SC Medium"/>
              </a:rPr>
              <a:t>游戏功能总览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7665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BB8"/>
                </a:solidFill>
                <a:latin typeface="OCR A Extended"/>
                <a:ea typeface="Noto Sans SC"/>
              </a:rPr>
              <a:t>GAME FEATURES  ·  12 SKILLS  ·  3 WIN CONDITIONS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932688"/>
            <a:ext cx="3200400" cy="1645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47872" y="932688"/>
            <a:ext cx="8257032" cy="16459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78992"/>
            <a:ext cx="5669280" cy="306519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6208" y="1078992"/>
            <a:ext cx="5605272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36208" y="1078992"/>
            <a:ext cx="5605272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SKILL SYSTEM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13990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12种技能系统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984247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28816" y="1874519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天盖地诛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1874519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随机消除对方2子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1984247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72016" y="1874519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力拔山西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51008" y="1874519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移除指定对方棋子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450591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28816" y="234086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飞沙走石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234086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消除对方3连中间子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0" y="2450591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72016" y="2340863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万事光阴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51008" y="2340863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撤销上一步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916935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28816" y="2807207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互有穹庐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7808" y="2807207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周围8格变己方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2916935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272016" y="2807207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爆破竹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51008" y="2807207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破坏十字形5格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3383279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28816" y="3273551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五丁语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07808" y="3273551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占领空星位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3383279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72016" y="3273551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订题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51008" y="3273551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破坏一个空位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3849623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28816" y="3739895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一元辰金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07808" y="3739895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额外获得1次落子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849623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72016" y="3739895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一目了然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51008" y="3739895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己方棋子高亮3秒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00800" y="4315967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28816" y="4206239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声应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07808" y="4206239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复制对手上次技能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0" y="4315967"/>
            <a:ext cx="64008" cy="6400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72016" y="4206239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战圆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51008" y="4206239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偷取对手未用技能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36208" y="6492240"/>
            <a:ext cx="5605272" cy="1828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36208" y="6537960"/>
            <a:ext cx="5605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BB8"/>
                </a:solidFill>
                <a:latin typeface="OCR A Extended"/>
                <a:ea typeface="Noto Sans SC"/>
              </a:rPr>
              <a:t>胜利条件：五子连珠  ·  占领4星位  ·  满盘白方胜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46304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12801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hnschrift SemiBold"/>
                <a:ea typeface="Noto Sans SC Medium"/>
              </a:rPr>
              <a:t>HCI 设计框架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7665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BB8"/>
                </a:solidFill>
                <a:latin typeface="OCR A Extended"/>
                <a:ea typeface="Noto Sans SC"/>
              </a:rPr>
              <a:t>PEOPLE-CENTERED DESIGN  ·  DOUBLE DIAMOND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932688"/>
            <a:ext cx="3200400" cy="1645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47872" y="932688"/>
            <a:ext cx="8257032" cy="16459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8348" y="1170432"/>
            <a:ext cx="2606040" cy="457200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8348" y="1170432"/>
            <a:ext cx="260604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8348" y="1170432"/>
            <a:ext cx="2606040" cy="5029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8348" y="12618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E5FF"/>
                </a:solidFill>
                <a:latin typeface="Bahnschrift SemiBold"/>
                <a:ea typeface="Noto Sans SC Medium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" y="1947672"/>
            <a:ext cx="2386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Bahnschrift SemiBold"/>
                <a:ea typeface="Noto Sans SC Medium"/>
              </a:rPr>
              <a:t>发现需求
Discovering
Requirements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6988" y="3090672"/>
            <a:ext cx="1508760" cy="1371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6" y="3227832"/>
            <a:ext cx="2386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两类用户画像
功能性/可用性
需求识别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40964" y="327355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A4A6A"/>
                </a:solidFill>
                <a:latin typeface="Bahnschrift Light"/>
                <a:ea typeface="Noto Sans SC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60420" y="1170432"/>
            <a:ext cx="2606040" cy="457200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60420" y="1170432"/>
            <a:ext cx="260604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360420" y="1170432"/>
            <a:ext cx="2606040" cy="5029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60420" y="12618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E676"/>
                </a:solidFill>
                <a:latin typeface="Bahnschrift SemiBold"/>
                <a:ea typeface="Noto Sans SC Medium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0148" y="1947672"/>
            <a:ext cx="2386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Bahnschrift SemiBold"/>
                <a:ea typeface="Noto Sans SC Medium"/>
              </a:rPr>
              <a:t>备选方案
Generating
Alternatives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09060" y="3090672"/>
            <a:ext cx="1508760" cy="1371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70148" y="3227832"/>
            <a:ext cx="2386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指令型 vs 操纵型
选择直接操纵
Direct Manipulation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3036" y="327355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A4A6A"/>
                </a:solidFill>
                <a:latin typeface="Bahnschrift Light"/>
                <a:ea typeface="Noto Sans SC"/>
              </a:rPr>
              <a:t>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22492" y="1170432"/>
            <a:ext cx="2606040" cy="457200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22492" y="1170432"/>
            <a:ext cx="260604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22492" y="1170432"/>
            <a:ext cx="2606040" cy="50292"/>
          </a:xfrm>
          <a:prstGeom prst="rect">
            <a:avLst/>
          </a:prstGeom>
          <a:solidFill>
            <a:srgbClr val="F7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22492" y="12618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7B700"/>
                </a:solidFill>
                <a:latin typeface="Bahnschrift SemiBold"/>
                <a:ea typeface="Noto Sans SC Medium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32220" y="1947672"/>
            <a:ext cx="2386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Bahnschrift SemiBold"/>
                <a:ea typeface="Noto Sans SC Medium"/>
              </a:rPr>
              <a:t>原型设计
Prototyping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71132" y="3090672"/>
            <a:ext cx="1508760" cy="13716"/>
          </a:xfrm>
          <a:prstGeom prst="rect">
            <a:avLst/>
          </a:prstGeom>
          <a:solidFill>
            <a:srgbClr val="F7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32220" y="3227832"/>
            <a:ext cx="2386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低保真草图
→ 高保真垂直原型
全功能实现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5108" y="327355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A4A6A"/>
                </a:solidFill>
                <a:latin typeface="Bahnschrift Light"/>
                <a:ea typeface="Noto Sans SC"/>
              </a:rPr>
              <a:t>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84564" y="1170432"/>
            <a:ext cx="2606040" cy="457200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084564" y="1170432"/>
            <a:ext cx="260604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084564" y="1170432"/>
            <a:ext cx="2606040" cy="5029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84564" y="126187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C4DFF"/>
                </a:solidFill>
                <a:latin typeface="Bahnschrift SemiBold"/>
                <a:ea typeface="Noto Sans SC Medium"/>
              </a:rP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4292" y="1947672"/>
            <a:ext cx="2386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Bahnschrift SemiBold"/>
                <a:ea typeface="Noto Sans SC Medium"/>
              </a:rPr>
              <a:t>评估迭代
Evaluation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33204" y="3090672"/>
            <a:ext cx="1508760" cy="13716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94292" y="3227832"/>
            <a:ext cx="238658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5名被试
SUS量表 + 访谈
→ 4项迭代优化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3A4A6A"/>
                </a:solidFill>
                <a:latin typeface="OCR A Extended"/>
                <a:ea typeface="Noto Sans SC"/>
              </a:rPr>
              <a:t>Double Diamond  :  Explore  →  Define  →  Develop  →  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46304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12801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hnschrift SemiBold"/>
                <a:ea typeface="Noto Sans SC Medium"/>
              </a:rPr>
              <a:t>概念模型 &amp; 认知设计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7665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BB8"/>
                </a:solidFill>
                <a:latin typeface="OCR A Extended"/>
                <a:ea typeface="Noto Sans SC"/>
              </a:rPr>
              <a:t>CONCEPTUAL MODEL  ·  COGNITIVE DESIGN  ·  EMOTIONAL DESIGN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932688"/>
            <a:ext cx="3200400" cy="1645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47872" y="932688"/>
            <a:ext cx="8257032" cy="16459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" y="1078992"/>
            <a:ext cx="3749039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1078992"/>
            <a:ext cx="37490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DIRECT MANIPULATION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3990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直接操纵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1874519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棋子/技能状态持续可见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点击替代命令行语法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即时反馈（Toast / 棋子预览圆）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万事光阴 — 可逆撤销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703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B700"/>
                </a:solidFill>
                <a:latin typeface="Bahnschrift SemiBold"/>
                <a:ea typeface="Noto Sans SC Medium"/>
              </a:rPr>
              <a:t>界面隐喻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1605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卡牌游戏 → 技能卡片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棋谱记录本 → 操作记录面板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禁止通行 → 红色 × 破坏格</a:t>
            </a:r>
          </a:p>
        </p:txBody>
      </p:sp>
      <p:pic>
        <p:nvPicPr>
          <p:cNvPr id="36" name="Picture 35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5559552"/>
            <a:ext cx="3749039" cy="100584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279392" y="1078992"/>
            <a:ext cx="3749039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79392" y="1078992"/>
            <a:ext cx="37490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34840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COGNITIVE DESIGN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13990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认知设计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79392" y="1874519"/>
            <a:ext cx="36576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07408" y="187451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注意 Attention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187451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回合颜色切换 · 技能列分区弱化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9392" y="3063239"/>
            <a:ext cx="36576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07408" y="306323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感知 Perception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306323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卡片圆角分组 · 棋子高对比渐变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9392" y="4251959"/>
            <a:ext cx="36576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07408" y="425195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记忆 Memory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425195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Recognition &gt; Recall
技能卡实时描述 · 操作记录=外部记忆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79392" y="5440679"/>
            <a:ext cx="36576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07408" y="5440679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Bahnschrift Light"/>
                <a:ea typeface="Noto Sans SC Medium"/>
              </a:rPr>
              <a:t>心智模型
Mental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5440679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技能即结束回合
→ Toast 即时纠偏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11312" y="1078992"/>
            <a:ext cx="3749039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11312" y="1078992"/>
            <a:ext cx="37490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66760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EMOTIONAL DESIGN  (Norman)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60" y="13990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情感化设计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2" y="1874519"/>
            <a:ext cx="36576" cy="1097280"/>
          </a:xfrm>
          <a:prstGeom prst="rect">
            <a:avLst/>
          </a:prstGeom>
          <a:solidFill>
            <a:srgbClr val="F7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39327" y="187451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00"/>
                </a:solidFill>
                <a:latin typeface="Bahnschrift Light"/>
                <a:ea typeface="Noto Sans SC Medium"/>
              </a:rPr>
              <a:t>本能层 Visceral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9327" y="228599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深蓝渐变 · 金色标题
毛玻璃面板 · 玉质棋子光泽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11312" y="3337559"/>
            <a:ext cx="36576" cy="10972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39327" y="333755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Bahnschrift Light"/>
                <a:ea typeface="Noto Sans SC Medium"/>
              </a:rPr>
              <a:t>行为层 Behavioral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39327" y="374903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一键翻转8格的操控感
撤销带来的安全感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11312" y="4800599"/>
            <a:ext cx="36576" cy="109728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339327" y="4800599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  <a:latin typeface="Bahnschrift Light"/>
                <a:ea typeface="Noto Sans SC Medium"/>
              </a:rPr>
              <a:t>反思层 Reflective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39327" y="5212079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D"/>
                </a:solidFill>
                <a:latin typeface="Bahnschrift Light"/>
                <a:ea typeface="Noto Sans SC"/>
              </a:rPr>
              <a:t>操作记录承载对局叙事
星位胜利 = 独特成就感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46304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12801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hnschrift SemiBold"/>
                <a:ea typeface="Noto Sans SC Medium"/>
              </a:rPr>
              <a:t>AI 对战实现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7665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BB8"/>
                </a:solidFill>
                <a:latin typeface="OCR A Extended"/>
                <a:ea typeface="Noto Sans SC"/>
              </a:rPr>
              <a:t>DOUBAO LLM  ·  THREAT DETECTION  ·  FALLBACK MECHANISM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932688"/>
            <a:ext cx="3200400" cy="1645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47872" y="932688"/>
            <a:ext cx="8257032" cy="16459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" y="1078992"/>
            <a:ext cx="5303520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1078992"/>
            <a:ext cx="530352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AI DECISION PIPELINE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3990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AI 决策流水线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1920240"/>
            <a:ext cx="54864" cy="56692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" y="1920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FF"/>
                </a:solidFill>
                <a:latin typeface="Bahnschrift Light"/>
                <a:ea typeface="Noto Sans SC Medium"/>
              </a:rPr>
              <a:t>前端构建提示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226771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棋盘矩阵 + 威胁检测 + 技能状态 + 星位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25603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A"/>
                </a:solidFill>
                <a:latin typeface="Bahnschrift Light"/>
                <a:ea typeface="Noto Sans SC"/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999232"/>
            <a:ext cx="54864" cy="56692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676"/>
                </a:solidFill>
                <a:latin typeface="Bahnschrift Light"/>
                <a:ea typeface="Noto Sans SC Medium"/>
              </a:rPr>
              <a:t>后端代理转发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346704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Node.js Express → 豆包 API (OpenAI 兼容)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63931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A"/>
                </a:solidFill>
                <a:latin typeface="Bahnschrift Light"/>
                <a:ea typeface="Noto Sans SC"/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078224"/>
            <a:ext cx="54864" cy="566928"/>
          </a:xfrm>
          <a:prstGeom prst="rect">
            <a:avLst/>
          </a:prstGeom>
          <a:solidFill>
            <a:srgbClr val="F7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" y="40782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B700"/>
                </a:solidFill>
                <a:latin typeface="Bahnschrift Light"/>
                <a:ea typeface="Noto Sans SC Medium"/>
              </a:rPr>
              <a:t>解析 JSON 响应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4425696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parseAIResponse() → validateAction()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7183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A4A6A"/>
                </a:solidFill>
                <a:latin typeface="Bahnschrift Light"/>
                <a:ea typeface="Noto Sans SC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157216"/>
            <a:ext cx="54864" cy="566928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" y="515721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4DFF"/>
                </a:solidFill>
                <a:latin typeface="Bahnschrift Light"/>
                <a:ea typeface="Noto Sans SC Medium"/>
              </a:rPr>
              <a:t>执行 / 降级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504688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合法则执行；失败→启发式简单 AI 兜底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1078992"/>
            <a:ext cx="5989320" cy="26060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852160" y="1078992"/>
            <a:ext cx="598932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16752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PROMPT CONTENT 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139903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Bahnschrift SemiBold"/>
                <a:ea typeface="Noto Sans SC Medium"/>
              </a:rPr>
              <a:t>提示词包含信息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16752" y="1874519"/>
            <a:ext cx="5669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当前棋盘矩阵（B / W / D / .）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双方已用技能 &amp; 额外落子次数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威胁检测：活三/四连坐标与方向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星位占领状态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52160" y="3840480"/>
            <a:ext cx="5989320" cy="2816352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852160" y="3840480"/>
            <a:ext cx="598932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16752" y="3886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FAULT TOLERANCE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16752" y="416052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Bahnschrift SemiBold"/>
                <a:ea typeface="Noto Sans SC Medium"/>
              </a:rPr>
              <a:t>容错 &amp; 降级机制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16752" y="461772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解析/校验失败 → 启发式 AI 自动降级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声应/战圆 → 独立二次提示流程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45 秒超时保护，防止阻塞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斜线威胁在提示中强制标注方向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46304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12801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hnschrift SemiBold"/>
                <a:ea typeface="Noto Sans SC Medium"/>
              </a:rPr>
              <a:t>用户评估结果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7665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BB8"/>
                </a:solidFill>
                <a:latin typeface="OCR A Extended"/>
                <a:ea typeface="Noto Sans SC"/>
              </a:rPr>
              <a:t>USABILITY TESTING  ·  SUS SCALE  ·  SEMI-STRUCTURED INTERVIEW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932688"/>
            <a:ext cx="3200400" cy="1645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47872" y="932688"/>
            <a:ext cx="8257032" cy="16459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" y="1078992"/>
            <a:ext cx="3291840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1078992"/>
            <a:ext cx="329184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SUS SCORE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155448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E5FF"/>
                </a:solidFill>
                <a:latin typeface="Bahnschrift SemiBold"/>
                <a:ea typeface="Noto Sans SC Medium"/>
              </a:rPr>
              <a:t>77.5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BBD"/>
                </a:solidFill>
                <a:latin typeface="Bahnschrift Light"/>
                <a:ea typeface="Noto Sans SC"/>
              </a:rPr>
              <a:t>/ 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3273552"/>
            <a:ext cx="219456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7472" y="33375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E676"/>
                </a:solidFill>
                <a:latin typeface="Bahnschrift Light"/>
                <a:ea typeface="Noto Sans SC Medium"/>
              </a:rPr>
              <a:t>良好（Good）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3840480"/>
            <a:ext cx="411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OCR A Extended"/>
                <a:ea typeface="Noto Sans SC"/>
              </a:rPr>
              <a:t>U1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" y="3895344"/>
            <a:ext cx="1700784" cy="182880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88336" y="384048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OCR A Extended"/>
                <a:ea typeface="Noto Sans SC"/>
              </a:rPr>
              <a:t>77.5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187952"/>
            <a:ext cx="411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OCR A Extended"/>
                <a:ea typeface="Noto Sans SC"/>
              </a:rPr>
              <a:t>U2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" y="4242816"/>
            <a:ext cx="1810512" cy="182880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98064" y="4187952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OCR A Extended"/>
                <a:ea typeface="Noto Sans SC"/>
              </a:rPr>
              <a:t>82.5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4535424"/>
            <a:ext cx="411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OCR A Extended"/>
                <a:ea typeface="Noto Sans SC"/>
              </a:rPr>
              <a:t>U3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" y="4590288"/>
            <a:ext cx="1536192" cy="182880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523744" y="4535424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OCR A Extended"/>
                <a:ea typeface="Noto Sans SC"/>
              </a:rPr>
              <a:t>70.0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4882896"/>
            <a:ext cx="411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OCR A Extended"/>
                <a:ea typeface="Noto Sans SC"/>
              </a:rPr>
              <a:t>U4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" y="4937760"/>
            <a:ext cx="1865376" cy="182880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52928" y="4882896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OCR A Extended"/>
                <a:ea typeface="Noto Sans SC"/>
              </a:rPr>
              <a:t>85.0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5230368"/>
            <a:ext cx="411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OCR A Extended"/>
                <a:ea typeface="Noto Sans SC"/>
              </a:rPr>
              <a:t>U5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2688" y="5285232"/>
            <a:ext cx="1591056" cy="182880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578608" y="52303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OCR A Extended"/>
                <a:ea typeface="Noto Sans SC"/>
              </a:rPr>
              <a:t>72.5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22191" y="1078992"/>
            <a:ext cx="4297680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822191" y="1078992"/>
            <a:ext cx="429768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77639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USABILITY ISSUES FOUND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77639" y="139903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Bahnschrift SemiBold"/>
                <a:ea typeface="Noto Sans SC Medium"/>
              </a:rPr>
              <a:t>发现的可用性问题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77639" y="1920240"/>
            <a:ext cx="685800" cy="2560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977639" y="19202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36592" y="19202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hnschrift Light"/>
                <a:ea typeface="Noto Sans SC"/>
              </a:rPr>
              <a:t>误以为技能后还能落子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192024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335A"/>
                </a:solidFill>
                <a:latin typeface="Bahnschrift SemiBold"/>
                <a:ea typeface="Noto Sans SC"/>
              </a:rPr>
              <a:t>3/5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77639" y="2560320"/>
            <a:ext cx="685800" cy="2560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77639" y="25603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36592" y="2560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hnschrift Light"/>
                <a:ea typeface="Noto Sans SC"/>
              </a:rPr>
              <a:t>不清楚星位位置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256032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B700"/>
                </a:solidFill>
                <a:latin typeface="Bahnschrift SemiBold"/>
                <a:ea typeface="Noto Sans SC"/>
              </a:rPr>
              <a:t>2/5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77639" y="3200400"/>
            <a:ext cx="685800" cy="2560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977639" y="320040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6592" y="32004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hnschrift Light"/>
                <a:ea typeface="Noto Sans SC"/>
              </a:rPr>
              <a:t>声应/战圆多步困惑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320040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7B700"/>
                </a:solidFill>
                <a:latin typeface="Bahnschrift SemiBold"/>
                <a:ea typeface="Noto Sans SC"/>
              </a:rPr>
              <a:t>2/5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77639" y="3840480"/>
            <a:ext cx="685800" cy="256032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977639" y="384048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36592" y="38404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hnschrift Light"/>
                <a:ea typeface="Noto Sans SC"/>
              </a:rPr>
              <a:t>误点非回合方无反应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06640" y="3840480"/>
            <a:ext cx="548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0E676"/>
                </a:solidFill>
                <a:latin typeface="Bahnschrift SemiBold"/>
                <a:ea typeface="Noto Sans SC"/>
              </a:rPr>
              <a:t>1/5</a:t>
            </a:r>
          </a:p>
        </p:txBody>
      </p:sp>
      <p:pic>
        <p:nvPicPr>
          <p:cNvPr id="71" name="Picture 70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1" y="4572000"/>
            <a:ext cx="4297680" cy="1920240"/>
          </a:xfrm>
          <a:prstGeom prst="rect">
            <a:avLst/>
          </a:prstGeom>
        </p:spPr>
      </p:pic>
      <p:sp>
        <p:nvSpPr>
          <p:cNvPr id="72" name="Rectangle 71"/>
          <p:cNvSpPr/>
          <p:nvPr/>
        </p:nvSpPr>
        <p:spPr>
          <a:xfrm>
            <a:off x="8302752" y="1078992"/>
            <a:ext cx="3538728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302752" y="1078992"/>
            <a:ext cx="3538728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58200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ITERATIVE IMPROVEMENTS 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58200" y="139903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FF"/>
                </a:solidFill>
                <a:latin typeface="Bahnschrift SemiBold"/>
                <a:ea typeface="Noto Sans SC Medium"/>
              </a:rPr>
              <a:t>迭代优化（4项）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58200" y="1938528"/>
            <a:ext cx="685800" cy="256032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458200" y="193852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0" y="19202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Bahnschrift Light"/>
                <a:ea typeface="Noto Sans SC"/>
              </a:rPr>
              <a:t>Toast 明确回合切换对象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458200" y="3035808"/>
            <a:ext cx="685800" cy="256032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58200" y="303580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35440" y="30175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Bahnschrift Light"/>
                <a:ea typeface="Noto Sans SC"/>
              </a:rPr>
              <a:t>规则弹窗增加星位坐标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58200" y="4133088"/>
            <a:ext cx="685800" cy="256032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458200" y="413308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35440" y="4114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Bahnschrift Light"/>
                <a:ea typeface="Noto Sans SC"/>
              </a:rPr>
              <a:t>非回合方点击给出提示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58200" y="5230368"/>
            <a:ext cx="685800" cy="256032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58200" y="523036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35440" y="521208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Bahnschrift Light"/>
                <a:ea typeface="Noto Sans SC"/>
              </a:rPr>
              <a:t>声应/战圆分步引导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46304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12801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hnschrift SemiBold"/>
                <a:ea typeface="Noto Sans SC Medium"/>
              </a:rPr>
              <a:t>Nielsen 启发式设计对照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7665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BB8"/>
                </a:solidFill>
                <a:latin typeface="OCR A Extended"/>
                <a:ea typeface="Noto Sans SC"/>
              </a:rPr>
              <a:t>HEURISTIC EVALUATION  ·  ALL 10 PRINCIPLES COVERED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932688"/>
            <a:ext cx="3200400" cy="1645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47872" y="932688"/>
            <a:ext cx="8257032" cy="16459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078992"/>
            <a:ext cx="3383280" cy="384561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347472" y="1078992"/>
            <a:ext cx="3977639" cy="118872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47472" y="1078992"/>
            <a:ext cx="39776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1188720"/>
            <a:ext cx="685800" cy="237744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118872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3584" y="11704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hnschrift Light"/>
                <a:ea typeface="Noto Sans SC Medium"/>
              </a:rPr>
              <a:t>系统状态可见性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554480"/>
            <a:ext cx="37581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顶部栏实时显示回合/回合数；Toast 反馈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62271" y="1078992"/>
            <a:ext cx="3977639" cy="118872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62271" y="1078992"/>
            <a:ext cx="39776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1999" y="1188720"/>
            <a:ext cx="685800" cy="237744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1999" y="118872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383" y="11704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hnschrift Light"/>
                <a:ea typeface="Noto Sans SC Medium"/>
              </a:rPr>
              <a:t>匹配真实世界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1999" y="1554480"/>
            <a:ext cx="37581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卡牌隐喻；木质棋盘；× 标记破坏格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2404872"/>
            <a:ext cx="3977639" cy="118872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47472" y="2404872"/>
            <a:ext cx="39776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200" y="2514600"/>
            <a:ext cx="685800" cy="237744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25146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3584" y="24963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hnschrift Light"/>
                <a:ea typeface="Noto Sans SC Medium"/>
              </a:rPr>
              <a:t>用户控制与自由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2880360"/>
            <a:ext cx="37581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万事光阴撤销；随时重开/返回主菜单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62271" y="2404872"/>
            <a:ext cx="3977639" cy="118872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462271" y="2404872"/>
            <a:ext cx="39776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571999" y="2514600"/>
            <a:ext cx="685800" cy="237744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1999" y="251460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58383" y="24963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hnschrift Light"/>
                <a:ea typeface="Noto Sans SC Medium"/>
              </a:rPr>
              <a:t>错误预防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1999" y="2880360"/>
            <a:ext cx="37581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非回合方技能置灰禁用；无效落子拦截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3730752"/>
            <a:ext cx="3977639" cy="118872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47472" y="3730752"/>
            <a:ext cx="39776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" y="3840480"/>
            <a:ext cx="685800" cy="237744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3840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3584" y="3822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hnschrift Light"/>
                <a:ea typeface="Noto Sans SC Medium"/>
              </a:rPr>
              <a:t>识别而非回忆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206240"/>
            <a:ext cx="37581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技能描述常驻；操作记录=外部记忆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62271" y="3730752"/>
            <a:ext cx="3977639" cy="118872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462271" y="3730752"/>
            <a:ext cx="39776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571999" y="3840480"/>
            <a:ext cx="685800" cy="237744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1999" y="384048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58383" y="38221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hnschrift Light"/>
                <a:ea typeface="Noto Sans SC Medium"/>
              </a:rPr>
              <a:t>美观与简约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1999" y="4206240"/>
            <a:ext cx="37581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深色主题 + 毛玻璃；受控信息密度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7472" y="5056632"/>
            <a:ext cx="3977639" cy="118872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347472" y="5056632"/>
            <a:ext cx="39776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57200" y="5166360"/>
            <a:ext cx="685800" cy="237744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7200" y="516636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43584" y="5148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hnschrift Light"/>
                <a:ea typeface="Noto Sans SC Medium"/>
              </a:rPr>
              <a:t>错误恢复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532120"/>
            <a:ext cx="37581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红色 Toast 说明原因；AI 失败自动降级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62271" y="5056632"/>
            <a:ext cx="3977639" cy="1188720"/>
          </a:xfrm>
          <a:prstGeom prst="rect">
            <a:avLst/>
          </a:prstGeom>
          <a:solidFill>
            <a:srgbClr val="0A1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462271" y="5056632"/>
            <a:ext cx="3977639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571999" y="5166360"/>
            <a:ext cx="685800" cy="237744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1999" y="516636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CR A Extended"/>
                <a:ea typeface="Noto Sans SC"/>
              </a:rPr>
              <a:t>HE-10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58383" y="51480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hnschrift Light"/>
                <a:ea typeface="Noto Sans SC Medium"/>
              </a:rPr>
              <a:t>帮助与文档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1999" y="5532120"/>
            <a:ext cx="375818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BD"/>
                </a:solidFill>
                <a:latin typeface="Bahnschrift Light"/>
                <a:ea typeface="Noto Sans SC"/>
              </a:rPr>
              <a:t>规则弹窗随时查阅，含12种技能说明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7472" y="146304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" y="128016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Bahnschrift SemiBold"/>
                <a:ea typeface="Noto Sans SC Medium"/>
              </a:rPr>
              <a:t>总结与展望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" y="676656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8BB8"/>
                </a:solidFill>
                <a:latin typeface="OCR A Extended"/>
                <a:ea typeface="Noto Sans SC"/>
              </a:rPr>
              <a:t>ACHIEVEMENTS  ·  LIMITATIONS  ·  FUTURE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932688"/>
            <a:ext cx="3200400" cy="16459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547872" y="932688"/>
            <a:ext cx="8257032" cy="16459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1005840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7472" y="1078992"/>
            <a:ext cx="5486400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" y="1078992"/>
            <a:ext cx="5486400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ACHIEVEMENTS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39903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项目成果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1874519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12种技能系统完整实现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AI对战（豆包大模型）完整接入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SUS 均分 77.5 分  ·  良好级别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完整执行 HCI 四活动循环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FFFFFF"/>
                </a:solidFill>
                <a:latin typeface="Bahnschrift Light"/>
                <a:ea typeface="Noto Sans SC"/>
              </a:rPr>
              <a:t>▸  Nielsen 十项启发式全覆盖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2519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B700"/>
                </a:solidFill>
                <a:latin typeface="Bahnschrift SemiBold"/>
                <a:ea typeface="Noto Sans SC Medium"/>
              </a:rPr>
              <a:t>HCI 理论应用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091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直接操纵 · 界面隐喻 · 认知四要素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Norman 情感三层模型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FFFFFF"/>
                </a:solidFill>
                <a:latin typeface="Bahnschrift Light"/>
                <a:ea typeface="Noto Sans SC"/>
              </a:rPr>
              <a:t>▸  以人为中心的迭代设计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6752" y="1078992"/>
            <a:ext cx="5824728" cy="5577840"/>
          </a:xfrm>
          <a:prstGeom prst="rect">
            <a:avLst/>
          </a:prstGeom>
          <a:solidFill>
            <a:srgbClr val="0D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16752" y="1078992"/>
            <a:ext cx="5824728" cy="16459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72200" y="11247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FF"/>
                </a:solidFill>
                <a:latin typeface="OCR A Extended"/>
                <a:ea typeface="Noto Sans SC"/>
              </a:rPr>
              <a:t>[ FUTURE WORK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139903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FF"/>
                </a:solidFill>
                <a:latin typeface="Bahnschrift SemiBold"/>
                <a:ea typeface="Noto Sans SC Medium"/>
              </a:rPr>
              <a:t>不足与改进方向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16752" y="1947671"/>
            <a:ext cx="36576" cy="502920"/>
          </a:xfrm>
          <a:prstGeom prst="rect">
            <a:avLst/>
          </a:prstGeom>
          <a:solidFill>
            <a:srgbClr val="FF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172200" y="187451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335A"/>
                </a:solidFill>
                <a:latin typeface="Bahnschrift Light"/>
                <a:ea typeface="Noto Sans SC"/>
              </a:rPr>
              <a:t>AI 响应延迟 1–3 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2219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BD"/>
                </a:solidFill>
                <a:latin typeface="Bahnschrift Light"/>
                <a:ea typeface="Noto Sans SC"/>
              </a:rPr>
              <a:t>→ 引入本地规则引擎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16752" y="3090671"/>
            <a:ext cx="36576" cy="502920"/>
          </a:xfrm>
          <a:prstGeom prst="rect">
            <a:avLst/>
          </a:prstGeom>
          <a:solidFill>
            <a:srgbClr val="FF3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72200" y="301751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335A"/>
                </a:solidFill>
                <a:latin typeface="Bahnschrift Light"/>
                <a:ea typeface="Noto Sans SC"/>
              </a:rPr>
              <a:t>缺乏新手教程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33649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BD"/>
                </a:solidFill>
                <a:latin typeface="Bahnschrift Light"/>
                <a:ea typeface="Noto Sans SC"/>
              </a:rPr>
              <a:t>→ 设计 Tutorial Mode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16752" y="4233671"/>
            <a:ext cx="36576" cy="502920"/>
          </a:xfrm>
          <a:prstGeom prst="rect">
            <a:avLst/>
          </a:prstGeom>
          <a:solidFill>
            <a:srgbClr val="F7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72200" y="416051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7B700"/>
                </a:solidFill>
                <a:latin typeface="Bahnschrift Light"/>
                <a:ea typeface="Noto Sans SC"/>
              </a:rPr>
              <a:t>复合技能学习成本高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5079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BD"/>
                </a:solidFill>
                <a:latin typeface="Bahnschrift Light"/>
                <a:ea typeface="Noto Sans SC"/>
              </a:rPr>
              <a:t>→ 步骤指示器替代 Toast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16752" y="5376671"/>
            <a:ext cx="36576" cy="502920"/>
          </a:xfrm>
          <a:prstGeom prst="rect">
            <a:avLst/>
          </a:prstGeom>
          <a:solidFill>
            <a:srgbClr val="8A9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530351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D"/>
                </a:solidFill>
                <a:latin typeface="Bahnschrift Light"/>
                <a:ea typeface="Noto Sans SC"/>
              </a:rPr>
              <a:t>无音效反馈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5650991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BBD"/>
                </a:solidFill>
                <a:latin typeface="Bahnschrift Light"/>
                <a:ea typeface="Noto Sans SC"/>
              </a:rPr>
              <a:t>→ 落子 &amp; 技能触发音效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29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572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12188952" cy="6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523619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47238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0857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4476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18095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1714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665333" y="0"/>
            <a:ext cx="6000" cy="6858000"/>
          </a:xfrm>
          <a:prstGeom prst="rect">
            <a:avLst/>
          </a:prstGeom>
          <a:solidFill>
            <a:srgbClr val="3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95760" y="73152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92940" y="73152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795760" y="6761988"/>
            <a:ext cx="32004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2092940" y="6464808"/>
            <a:ext cx="22860" cy="3200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Bahnschrift SemiBold"/>
                <a:ea typeface="Noto Sans SC Medium"/>
              </a:rPr>
              <a:t>谢谢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E5FF"/>
                </a:solidFill>
                <a:latin typeface="OCR A Extended"/>
                <a:ea typeface="Noto Sans SC"/>
              </a:rPr>
              <a:t>THANK YOU  ·  Q &amp;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206240"/>
            <a:ext cx="5029200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" y="4251960"/>
            <a:ext cx="5029200" cy="7315"/>
          </a:xfrm>
          <a:prstGeom prst="rect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BBD"/>
                </a:solidFill>
                <a:latin typeface="Bahnschrift Light"/>
                <a:ea typeface="Noto Sans SC"/>
              </a:rPr>
              <a:t>技能五子棋 2.0  ·  人机交互课程终期项目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88952" cy="1097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702</Words>
  <Application>Microsoft Office PowerPoint</Application>
  <PresentationFormat>Custom</PresentationFormat>
  <Paragraphs>226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Bahnschrift Light</vt:lpstr>
      <vt:lpstr>Bahnschrift SemiBold</vt:lpstr>
      <vt:lpstr>Calibri</vt:lpstr>
      <vt:lpstr>OCR A Extended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Lu, Shijie</cp:lastModifiedBy>
  <cp:revision>2</cp:revision>
  <dcterms:created xsi:type="dcterms:W3CDTF">2013-01-27T09:14:16Z</dcterms:created>
  <dcterms:modified xsi:type="dcterms:W3CDTF">2026-06-19T06:56:36Z</dcterms:modified>
  <cp:category/>
</cp:coreProperties>
</file>